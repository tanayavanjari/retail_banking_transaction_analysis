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CASE STUDY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Banking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Analysis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retail-banking business questions into a relational database and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SQL-driven insights across customers, accounts, transactions, loans and cards.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928" y="5257800"/>
            <a:ext cx="3627120" cy="384048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90928" y="525780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19216" y="52578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19216" y="5257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Data Analyst | MySQL Business Analytics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bank serves customers through accounts, cards and loans across multiple branches, generating a constant stream of transactions and loan repayments. That activity is scattered across separate relational tables — customers, accounts, branches, transactions, loans, loan payments and cards.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needs that scattered data turned into a clear picture of customer behaviour, account and transaction activity, loan performance and product engagement — in order to make data-driven banking decisions.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818120" y="19659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Banking Team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0" y="296265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19288" y="28254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ER diagram and reason about table relationships before writing any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358444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19288" y="34472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normalised MySQL database with correct keys and constraints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420624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19288" y="40690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validate multi-table CSV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482803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19288" y="46908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open-ended business objectives into precise analytical questions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544982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19288" y="531266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interpret SQL queries to produce management-ready insights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Architecture: 7 Connected Tables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query, the database was planned from an ER diagram — mapping primary keys, foreign keys and one-to-many relationships across the full customer-to-product lifecycle.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500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072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0632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segment, KYC status, income &amp; credit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11" name="Shape 9"/>
          <p:cNvSpPr/>
          <p:nvPr/>
        </p:nvSpPr>
        <p:spPr>
          <a:xfrm>
            <a:off x="3584448" y="23500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444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8072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0632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network across cities, states and regions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9088" y="23500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1908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28072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30632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held per customer, balances &amp; interest rates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1488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21" name="Shape 19"/>
          <p:cNvSpPr/>
          <p:nvPr/>
        </p:nvSpPr>
        <p:spPr>
          <a:xfrm>
            <a:off x="9253728" y="23500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5372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28072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30632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movement: type, channel, amount, 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8561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39867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4439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7000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type, principal, EMI, tenure &amp; outstanding balance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78561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84448" y="39867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8444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584448" y="44439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Payments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584448" y="47000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history: on-time, late or missed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78561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E"/>
          </a:solidFill>
          <a:ln/>
        </p:spPr>
      </p:sp>
      <p:sp>
        <p:nvSpPr>
          <p:cNvPr id="36" name="Shape 34"/>
          <p:cNvSpPr/>
          <p:nvPr/>
        </p:nvSpPr>
        <p:spPr>
          <a:xfrm>
            <a:off x="6419088" y="39867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1908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19088" y="44439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19088" y="47000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type, network, credit limit &amp; reward points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378561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53728" y="3968496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customer_id, account_id, branch_id &amp; loan_id foreign keys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2157984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03320"/>
            <a:ext cx="21579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ER diagram and reasoned through each business situation — tables, joins and logic — before writing any SQL.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82112" y="36347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EDF3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11880" y="3566160"/>
            <a:ext cx="2157984" cy="0"/>
          </a:xfrm>
          <a:prstGeom prst="line">
            <a:avLst/>
          </a:prstGeom>
          <a:noFill/>
          <a:ln w="12700">
            <a:solidFill>
              <a:srgbClr val="C7D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3703320"/>
            <a:ext cx="21579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MySQL schema with appropriate data types, primary/foreign keys and constraints, then imported and verified the CSV data.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16752" y="36347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3566160"/>
            <a:ext cx="2157984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703320"/>
            <a:ext cx="21579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10 foundational questions to get familiar with volumes, categories and totals across the database.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51392" y="36347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EDF3F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8116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Objective-Based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81160" y="3566160"/>
            <a:ext cx="2157984" cy="0"/>
          </a:xfrm>
          <a:prstGeom prst="line">
            <a:avLst/>
          </a:prstGeom>
          <a:noFill/>
          <a:ln w="12700">
            <a:solidFill>
              <a:srgbClr val="C7D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3703320"/>
            <a:ext cx="21579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original analytical questions across 5 business objectives and answered them with multi-table SQL queries.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DATA EXPLORATION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KPIs Established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tackling business objectives, ten baseline SQL queries were used to get comfortable with the database — confirming volumes, categories and totals across every 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4942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6517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21868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from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25496" y="2103120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12" name="Shape 10"/>
          <p:cNvSpPr/>
          <p:nvPr/>
        </p:nvSpPr>
        <p:spPr>
          <a:xfrm>
            <a:off x="2825496" y="2103120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990088" y="224942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0088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6517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Accounts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21868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from accounts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02352" y="2103120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2103120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66944" y="224942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66944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26517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21868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account_type, ranked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9208" y="2103120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79208" y="2103120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0" y="224942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4380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25512" y="26517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25512" y="321868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is_active = 'Yes'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56064" y="2103120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30" name="Shape 28"/>
          <p:cNvSpPr/>
          <p:nvPr/>
        </p:nvSpPr>
        <p:spPr>
          <a:xfrm>
            <a:off x="9656064" y="2103120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820656" y="224942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820656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802368" y="26517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02368" y="321868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transaction_type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904488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904488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4050792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" y="445312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Transaction Value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94944" y="5020056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SUM(amount) WHERE status='Completed'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25496" y="3904488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42" name="Shape 40"/>
          <p:cNvSpPr/>
          <p:nvPr/>
        </p:nvSpPr>
        <p:spPr>
          <a:xfrm>
            <a:off x="2825496" y="3904488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990088" y="4050792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990088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2971800" y="445312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Types &amp; Volume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2971800" y="5020056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COUNT(*), GROUP BY loan_type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02352" y="3904488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48" name="Shape 46"/>
          <p:cNvSpPr/>
          <p:nvPr/>
        </p:nvSpPr>
        <p:spPr>
          <a:xfrm>
            <a:off x="5102352" y="3904488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5266944" y="4050792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66944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5248656" y="445312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248656" y="5020056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card_type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79208" y="3904488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54" name="Shape 52"/>
          <p:cNvSpPr/>
          <p:nvPr/>
        </p:nvSpPr>
        <p:spPr>
          <a:xfrm>
            <a:off x="7379208" y="3904488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7543800" y="4050792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54380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7525512" y="445312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Outstanding Loan Balance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7525512" y="5020056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SUM(outstanding_balance)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656064" y="3904488"/>
            <a:ext cx="2093976" cy="1600200"/>
          </a:xfrm>
          <a:prstGeom prst="roundRect">
            <a:avLst>
              <a:gd name="adj" fmla="val 5143"/>
            </a:avLst>
          </a:prstGeom>
          <a:solidFill>
            <a:srgbClr val="EDF3FE"/>
          </a:solidFill>
          <a:ln/>
        </p:spPr>
      </p:sp>
      <p:sp>
        <p:nvSpPr>
          <p:cNvPr id="60" name="Shape 58"/>
          <p:cNvSpPr/>
          <p:nvPr/>
        </p:nvSpPr>
        <p:spPr>
          <a:xfrm>
            <a:off x="9656064" y="3904488"/>
            <a:ext cx="54864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9820656" y="4050792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820656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9802368" y="445312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 Issued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9802368" y="5020056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from loans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 &amp; Segmentation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customer base and identify meaningful differences between customer groups.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51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customer base split by income and segment?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101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credit score, income and KYC status differ across segments?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68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customer tenure and active rate vary by segment?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28600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EDF3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9248" y="29535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7848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income &amp; tenure segmentation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99248" y="3364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27848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function: percentage share via SUM(COUNT(*)) OVER()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99248" y="37764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27848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 against the dataset's latest transaction date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99248" y="4187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27848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with multi-metric aggregation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07492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which customer segments are largest, most creditworthy and most tenured — so engagement and retention strategy can be tailored by segment.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Usage &amp; Branch Activity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accounts are used and how activity differs by account type and branch.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51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balances and interest rates compare across account types?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101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branches hold the highest account activity and balances?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68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hold more than one account?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28600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EDF3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9248" y="29535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7848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branches to accounts for branch-level rollups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99248" y="3364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27848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to preserve branches with zero accounts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99248" y="37764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27848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COUNT(account_id) &gt; 1 for multi-account customers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99248" y="4187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27848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AVG / MAX for interest-rate ranges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07492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branches and account products carrying the most balance and activity — informing staffing, resourcing and product-mix decisions.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Pattern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customers use their accounts and how money moves through the bank.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51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transaction types and channels carry the most value?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101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transaction activity trend month over month?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68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transaction behaviour differ by customer segment?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28600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EDF3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9248" y="29535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7848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aggregation: SUM(CASE WHEN status='Completed')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99248" y="3364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27848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DATE_FORMAT(transaction_date,'%Y-%m') for monthly trends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99248" y="37764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27848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for transaction-status distribution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99248" y="4187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27848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JOIN: customers → accounts → transactions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07492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channels and transaction types dominate volume and value — supporting operational monitoring and channel-investment decisions.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Performance &amp; Repayment Behaviour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loans are performing and whether customers are repaying as expected.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51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loan types and purposes carry the largest outstanding exposure?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101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loans show repayment delays, penalties or missed payments?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68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repayment performance vary by loan type and branch?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28600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EDF3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9248" y="29535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7848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loans to loan_payments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99248" y="3364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27848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isolate late / missed-payment loans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99248" y="37764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27848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SUM for penalties, paid-rate 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99248" y="4187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27848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maturity bucket vs. dataset 'as-of' date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07492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loan types, purposes and branches carrying the highest repayment risk — enabling proactive collections and portfolio risk management.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Usage &amp; Product Engagement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customers use card products and how that relates to their wider banking relationship.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51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credit limits, utilisation and rewards compare by card type?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101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hold multiple banking products?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68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product penetration (accounts / cards / loans) vary by segment?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28600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EDF3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9248" y="29535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7848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(WITH) to pre-aggregate product counts per customer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99248" y="3364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27848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LEFT JOINs across accounts, cards &amp; loans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99248" y="37764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27848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AVG(boolean expression) for penetration 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99248" y="4187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27848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% via outstanding_balance / credit_limit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07492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account-only customers with no card or loan relationship — the clearest cross-sell opportunity for deepening product engagement.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DF3F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Segment-Led Engagement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620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and product offers on the segments that dominate the customer base and carry the strongest credit profiles.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DF3FE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202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Performance Review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620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staffing and customer mix at branches with concentrated account activity against lower-activity branches.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DF3F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202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Monitoring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8620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operational performance on the channels carrying the most transaction volume and value.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DF3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Risk Management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10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collections and review policy for loan types / branches with elevated late or missed payments.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DF3F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Targeting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10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cards and loans to the account-only customer base identified through product-penetration analysis.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DF3FE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690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Portfolio Tuning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10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credit limits and rewards with observed utilisation patterns by card type and network.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Schema design · Primary / foreign keys · Constraints (NOT NULL, CHECK, DEFAULT)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DF3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· LEFT JOIN · CTEs (WITH) · Window functions · Subqueries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segmentation · Conditional aggregation · Date functions · GROUP BY / HAVING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DF3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51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&amp; validation via MySQL Import Wizard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6576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251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ER-diagram reasoning · Business-question-to-query translation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DF3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251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framing · Insight interpretation · Actionable business recommendations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Transaction Analysis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80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Banking Data to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Decision-Ready Insight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complete Data Analyst workflow: understanding a business problem, reasoning from an ER diagram, building and validating a relational database, and writing SQL to turn customer, account, transaction, loan and card data into structured, decision-ready business insight — while managing data-quality issues such as duplicates, NULLs and double-counting across one-to-many joins.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KPIs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2026-09-23T13:05:47Z</dcterms:created>
  <dcterms:modified xsi:type="dcterms:W3CDTF">2026-09-23T13:05:47Z</dcterms:modified>
</cp:coreProperties>
</file>